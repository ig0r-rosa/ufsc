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lus Jakarta Sans ExtraBold"/>
      <p:bold r:id="rId19"/>
      <p:boldItalic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Plus Jakarta Sans"/>
      <p:regular r:id="rId29"/>
      <p:bold r:id="rId30"/>
      <p:italic r:id="rId31"/>
      <p:boldItalic r:id="rId32"/>
    </p:embeddedFont>
    <p:embeddedFont>
      <p:font typeface="Plus Jakarta Sans SemiBold"/>
      <p:regular r:id="rId33"/>
      <p:bold r:id="rId34"/>
      <p:italic r:id="rId35"/>
      <p:boldItalic r:id="rId36"/>
    </p:embeddedFont>
    <p:embeddedFont>
      <p:font typeface="Inter Medium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7AF524-5091-4D62-B012-2C1840DD76C5}">
  <a:tblStyle styleId="{167AF524-5091-4D62-B012-2C1840DD76C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boldItalic.fntdata"/><Relationship Id="rId20" Type="http://schemas.openxmlformats.org/officeDocument/2006/relationships/font" Target="fonts/PlusJakartaSansExtraBold-boldItalic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-italic.fntdata"/><Relationship Id="rId30" Type="http://schemas.openxmlformats.org/officeDocument/2006/relationships/font" Target="fonts/PlusJakartaSans-bold.fntdata"/><Relationship Id="rId11" Type="http://schemas.openxmlformats.org/officeDocument/2006/relationships/slide" Target="slides/slide5.xml"/><Relationship Id="rId33" Type="http://schemas.openxmlformats.org/officeDocument/2006/relationships/font" Target="fonts/PlusJakartaSansSemiBold-regular.fntdata"/><Relationship Id="rId10" Type="http://schemas.openxmlformats.org/officeDocument/2006/relationships/slide" Target="slides/slide4.xml"/><Relationship Id="rId32" Type="http://schemas.openxmlformats.org/officeDocument/2006/relationships/font" Target="fonts/PlusJakartaSans-boldItalic.fntdata"/><Relationship Id="rId13" Type="http://schemas.openxmlformats.org/officeDocument/2006/relationships/slide" Target="slides/slide7.xml"/><Relationship Id="rId35" Type="http://schemas.openxmlformats.org/officeDocument/2006/relationships/font" Target="fonts/PlusJakartaSansSemiBold-italic.fntdata"/><Relationship Id="rId12" Type="http://schemas.openxmlformats.org/officeDocument/2006/relationships/slide" Target="slides/slide6.xml"/><Relationship Id="rId34" Type="http://schemas.openxmlformats.org/officeDocument/2006/relationships/font" Target="fonts/PlusJakartaSansSemiBold-bold.fntdata"/><Relationship Id="rId15" Type="http://schemas.openxmlformats.org/officeDocument/2006/relationships/slide" Target="slides/slide9.xml"/><Relationship Id="rId37" Type="http://schemas.openxmlformats.org/officeDocument/2006/relationships/font" Target="fonts/InterMedium-regular.fntdata"/><Relationship Id="rId14" Type="http://schemas.openxmlformats.org/officeDocument/2006/relationships/slide" Target="slides/slide8.xml"/><Relationship Id="rId36" Type="http://schemas.openxmlformats.org/officeDocument/2006/relationships/font" Target="fonts/PlusJakartaSansSemiBold-boldItalic.fntdata"/><Relationship Id="rId17" Type="http://schemas.openxmlformats.org/officeDocument/2006/relationships/slide" Target="slides/slide11.xml"/><Relationship Id="rId39" Type="http://schemas.openxmlformats.org/officeDocument/2006/relationships/font" Target="fonts/InterMedium-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bold.fntdata"/><Relationship Id="rId19" Type="http://schemas.openxmlformats.org/officeDocument/2006/relationships/font" Target="fonts/PlusJakartaSansExtraBold-bold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24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9675" y="2085082"/>
            <a:ext cx="2152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260600" y="2498538"/>
            <a:ext cx="367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MoonBit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47887" y="3393727"/>
            <a:ext cx="789622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Uma Linguagem Moderna Desenvolvida Sob Medida para WebAssembly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524500" y="4071788"/>
            <a:ext cx="1143000" cy="5715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028950" y="4414688"/>
            <a:ext cx="61341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EA5E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ASPECTOS SINTÁTICOS, SEMÂNTICOS &amp; PIPELINE DO COMPILADOR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9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2281" y="1985962"/>
            <a:ext cx="4607718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2391965"/>
            <a:ext cx="59132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 Limiar do WebAssembly (Wasm)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2792015"/>
            <a:ext cx="5631656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ecossistema web moderno exige alta performance no cliente, mas as linguagens existentes impõem trade-offs severos: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3393876"/>
            <a:ext cx="5631656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Rust: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Seguro e extremamente performático, mas possui curva de aprendizado íngreme (Borrow Checker) e geração lenta de builds.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3995737"/>
            <a:ext cx="5631656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JavaScript/TS: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Flexível e popular, mas carece de tipagem estática verdadeira em tempo de execução e possui custo de parse elevado.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4597598"/>
            <a:ext cx="5631656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MoonBit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preenche esse espaço: traz a segurança sintática do Rust unida à rapidez do Go através de um runtime otimizado com WasmGC.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1806" y="1995487"/>
            <a:ext cx="4588668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918925"/>
            <a:ext cx="5250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 que uma nova linguagem?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3048000" y="776287"/>
            <a:ext cx="428625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9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title="6363343-web-development-and-coding-cross-platform-development-website-adaptive-layout-internet-page-or-web-interface-on-screen-laptop-tablet-and-phone-vetor.jpg"/>
          <p:cNvPicPr preferRelativeResize="0"/>
          <p:nvPr/>
        </p:nvPicPr>
        <p:blipFill rotWithShape="1">
          <a:blip r:embed="rId4">
            <a:alphaModFix/>
          </a:blip>
          <a:srcRect b="0" l="18326" r="18326" t="0"/>
          <a:stretch/>
        </p:blipFill>
        <p:spPr>
          <a:xfrm>
            <a:off x="2149078" y="2366962"/>
            <a:ext cx="2857499" cy="2857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6822281" y="2327225"/>
            <a:ext cx="48381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Liderança de Hongbo Zhang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822281" y="2727275"/>
            <a:ext cx="4607718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Lançada oficialmente em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agosto de 2023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pela equipe do IDEA, a MoonBit foi idealizada por Hongbo Zhang.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822281" y="3329136"/>
            <a:ext cx="4607718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Zhang possui grande prestígio acadêmico e corporativo por ser o criador da linguagem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ReScript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(anteriormente BuckleScript na Meta) e um dos principais desenvolvedores da infraestrutura de compiladores do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OCaml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822281" y="4418558"/>
            <a:ext cx="4607718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Essa profunda bagagem técnica influenciou o design do compilador da MoonBit, escrito inteiramente em OCaml para velocidade e robustez.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62025" y="965425"/>
            <a:ext cx="5220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Histórico e Origem do Projeto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3033712" y="776287"/>
            <a:ext cx="428625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9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62348"/>
            <a:ext cx="3397299" cy="2866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362348"/>
            <a:ext cx="3397299" cy="2866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362348"/>
            <a:ext cx="3397299" cy="286672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1057275" y="3200548"/>
            <a:ext cx="29470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Altamente Performática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57275" y="3600598"/>
            <a:ext cx="280674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Projetada especificamente para o WebAssembly de última geração. O código gerado é extremamente compacto (em bytes, não megabytes), maximizando o runtime.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92699" y="3200548"/>
            <a:ext cx="29470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Simples e Elegante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92699" y="3600598"/>
            <a:ext cx="28068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Evita a sobrecarga de sintaxes barrocas. Segue a mentalidade pragmática do Go: curvas rápidas de adoção e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manutenibilidade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limpa no código.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328124" y="3200548"/>
            <a:ext cx="29470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Nativa para IA (AI-Ready)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328124" y="3600598"/>
            <a:ext cx="280674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arquitetura do compilador suporta "amostragem semântica" em tempo real de forma ultra-rápida, facilitando a automação de código por LLMs.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68619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68619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8124" y="2686198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1009575"/>
            <a:ext cx="5670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Três Pilares de Desenvolvimento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3248025" y="776287"/>
            <a:ext cx="428625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9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97583"/>
            <a:ext cx="5191125" cy="33962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097583"/>
            <a:ext cx="5191125" cy="339625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1104900" y="3050083"/>
            <a:ext cx="473059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Tudo é Expressão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104900" y="3450133"/>
            <a:ext cx="4505325" cy="740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MoonBit, estruturas tradicionais de fluxo (como blocos if e ramificações de loops) são tratadas como expressões que retornam valores diretamente.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104900" y="4305300"/>
            <a:ext cx="45053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Isso simplifica consideravelmente a especificação da gramática. Na AST (Árvore de Sintaxe Abstrata), reduz-se a distinção rígida entre </a:t>
            </a:r>
            <a:r>
              <a:rPr b="0" i="1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Instructions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b="0" i="1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Statements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581775" y="3050083"/>
            <a:ext cx="473059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Lógica sem Ambiguidades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581775" y="3450133"/>
            <a:ext cx="4505325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Desenhada para evitar ambiguidades sintáticas clássicas (como o problema do </a:t>
            </a:r>
            <a:r>
              <a:rPr b="0" i="1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dangling else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em parsers C). As chaves de escopo são obrigatórias, o que permite o uso de parsers mais simples e previsíveis (como LL/LR recursivo descendente).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4900" y="2478583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478583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62000" y="994475"/>
            <a:ext cx="5560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Sintaxe Orientada a Expressões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3195637" y="776287"/>
            <a:ext cx="428625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9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2281" y="1985962"/>
            <a:ext cx="4607718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762000" y="2084189"/>
            <a:ext cx="59132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Estruturas de Controle de Fluxo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62000" y="2484239"/>
            <a:ext cx="5631656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Observe que o bloco if-else retorna um valor estaticamente tipado diretamente para a variável interna, sem necessidade de sintaxes ternárias.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762000" y="3095625"/>
            <a:ext cx="5631656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declaração explícita de tipos nos parâmetros (valor : Double) e no retorno facilita a criação da tabela de símbolos inicial.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1806" y="1995487"/>
            <a:ext cx="4588668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762000" y="1070000"/>
            <a:ext cx="5260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Gramática Clara e Sem Ruídos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3052762" y="776287"/>
            <a:ext cx="428625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9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2047875" y="2355651"/>
            <a:ext cx="8572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Exhaustiveness Checking: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 validador semântico exige que todas as ramificações de enums e Tipos Algébricos (ADTs) sejam contempladas em cláusulas de match, eliminando bugs silenciosos de estados inválidos.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2047875" y="3407122"/>
            <a:ext cx="857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Loops Funcionais Sem Mutabilidade: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sintaxe provê estruturas recursivas otimizadas para estados (máquinas de estado), eliminando efeitos colaterais comuns de variáveis globais e ponteiros soltos.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2047875" y="4184302"/>
            <a:ext cx="8572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Gestão de Memória Segura: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Ao invés de empregar o pesado borrow checker do Rust, o validador semântico da MoonBit delega a reciclagem de memória para o motor WasmGC, diminuindo a complexidade de verificação em tempo de build.</a:t>
            </a:r>
            <a:endParaRPr/>
          </a:p>
        </p:txBody>
      </p:sp>
      <p:pic>
        <p:nvPicPr>
          <p:cNvPr descr="image.png"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6875" y="238898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6875" y="344045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66875" y="421764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746900" y="1048525"/>
            <a:ext cx="5370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Segurança Semântica Estática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3105150" y="776287"/>
            <a:ext cx="428625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9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04925"/>
            <a:ext cx="10668000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762000" y="5684639"/>
            <a:ext cx="10668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Nota: Graças ao design pragmático e escrita do pipeline de análise em OCaml, o parser do MoonBit atinge taxas de reconstrução em milissegundos, tornando-o ideal para IDEs integradas na Web.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762000" y="1085100"/>
            <a:ext cx="5530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Velocidade Incremental Incrível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3181350" y="776287"/>
            <a:ext cx="428625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9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19473"/>
            <a:ext cx="5191125" cy="3152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19473"/>
            <a:ext cx="5191125" cy="315247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1104900" y="3171973"/>
            <a:ext cx="473059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Facilidades de Design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1104900" y="3572023"/>
            <a:ext cx="45053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Gramática limpa com reduzidos conjuntos de tokens especiais.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1104900" y="4173884"/>
            <a:ext cx="4505325" cy="740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Ausência de regras mutantes contextuais como em C++ (onde A(c) pode ser template ou expressão booleana), permitindo parsers altamente preditivos de passagem única.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581775" y="3171973"/>
            <a:ext cx="473059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Desafios de Implementação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581775" y="3572023"/>
            <a:ext cx="4505325" cy="99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incorporação de interpolação avançada de Strings com blocos de código livre no interior das aspas (ex: "Valor: \{x}") requer analisadores léxicos (tokenizers) com controle dinâmico de estados internos (Context-Sensitive Lexing).</a:t>
            </a:r>
            <a:endParaRPr/>
          </a:p>
        </p:txBody>
      </p:sp>
      <p:pic>
        <p:nvPicPr>
          <p:cNvPr descr="image.png" id="197" name="Google Shape;19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4900" y="2600473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60047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762000" y="994475"/>
            <a:ext cx="5740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Análise Sintática: Prós &amp; Contras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3281362" y="776287"/>
            <a:ext cx="428625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9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/>
          <p:nvPr/>
        </p:nvSpPr>
        <p:spPr>
          <a:xfrm>
            <a:off x="762000" y="3776662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703328" y="4033837"/>
            <a:ext cx="246421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01. Tabela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762000" y="4310062"/>
            <a:ext cx="234687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Criação das tabelas de símbolos e resolução de escopos lexicais.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3477037" y="2607171"/>
            <a:ext cx="246421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02. Tipagem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3535709" y="2883396"/>
            <a:ext cx="234687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Inferência de tipos via algoritmo estilo Hindley-Milner de alta performance.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250747" y="4033837"/>
            <a:ext cx="246421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03. Match Check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309419" y="4310062"/>
            <a:ext cx="234687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Validação da cobertura absoluta e redundância nos blocos Pattern Matching.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9024457" y="2607171"/>
            <a:ext cx="246421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04. Backend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9083129" y="2883396"/>
            <a:ext cx="234687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Conversão semântica de tipos de alto nível para estruturas estritas do WasmGC.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762000" y="1024675"/>
            <a:ext cx="4780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Fluxo de Análise Semântica</a:t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2824162" y="776287"/>
            <a:ext cx="428625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1840185" y="37004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4613895" y="37004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7387604" y="37004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10161314" y="37004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9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6" name="Google Shape;226;p23"/>
          <p:cNvGraphicFramePr/>
          <p:nvPr/>
        </p:nvGraphicFramePr>
        <p:xfrm>
          <a:off x="762000" y="27013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{167AF524-5091-4D62-B012-2C1840DD76C5}</a:tableStyleId>
              </a:tblPr>
              <a:tblGrid>
                <a:gridCol w="1820175"/>
                <a:gridCol w="2725350"/>
                <a:gridCol w="2696175"/>
                <a:gridCol w="3426325"/>
              </a:tblGrid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Funcionalidade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Complexidade Sintática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Complexidade Semântica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Geração de Código (Wasm)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Inferência de Tipos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Mínima (Sem poluição de tipos)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Alta (Algoritmo de Unificação)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Baixa (Tipagem apagada/resolvida)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Pattern Matching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Média (Estrutura aninhada)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Máxima (Verificação exaustiva)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Média (Geração de saltos otimizados)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Async / Corrotinas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Baixa (Palavra-chave simples)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Alta (Isolamento de efeitos)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Máxima (Transformação CPS no runtime)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23"/>
          <p:cNvSpPr/>
          <p:nvPr/>
        </p:nvSpPr>
        <p:spPr>
          <a:xfrm>
            <a:off x="762000" y="3201441"/>
            <a:ext cx="1820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2582167" y="3201441"/>
            <a:ext cx="27253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5307508" y="3201441"/>
            <a:ext cx="26961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8003678" y="3201441"/>
            <a:ext cx="34263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762000" y="3759547"/>
            <a:ext cx="1820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2582167" y="3759547"/>
            <a:ext cx="27253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307508" y="3759547"/>
            <a:ext cx="26961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8003678" y="3759547"/>
            <a:ext cx="34263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762000" y="4317652"/>
            <a:ext cx="1820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2582167" y="4317652"/>
            <a:ext cx="27253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307508" y="4317652"/>
            <a:ext cx="26961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8003678" y="4317652"/>
            <a:ext cx="34263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762000" y="4875758"/>
            <a:ext cx="18201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2582167" y="4875758"/>
            <a:ext cx="27253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307508" y="4875758"/>
            <a:ext cx="26961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8003678" y="4875758"/>
            <a:ext cx="34263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771525" y="1024675"/>
            <a:ext cx="7601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Complexidade de Recursos do Compilador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4167187" y="776287"/>
            <a:ext cx="428625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9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3512" y="2386012"/>
            <a:ext cx="17049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/>
          <p:nvPr/>
        </p:nvSpPr>
        <p:spPr>
          <a:xfrm>
            <a:off x="495300" y="2833687"/>
            <a:ext cx="11201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Perguntas &amp; Discussão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762000" y="3690937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Agradecemos a atenção! Qual a sua opinião sobre o design pragmático da MoonBit?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